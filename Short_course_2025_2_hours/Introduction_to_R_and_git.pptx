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9" r:id="rId3"/>
    <p:sldId id="271" r:id="rId4"/>
    <p:sldId id="272" r:id="rId5"/>
    <p:sldId id="273" r:id="rId6"/>
    <p:sldId id="27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7" descr="HZI_Balken_4_3 1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3"/>
          <p:cNvSpPr>
            <a:spLocks noChangeArrowheads="1"/>
          </p:cNvSpPr>
          <p:nvPr userDrawn="1"/>
        </p:nvSpPr>
        <p:spPr bwMode="auto">
          <a:xfrm>
            <a:off x="8157634" y="4608514"/>
            <a:ext cx="4034367" cy="1158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 sz="1800">
              <a:cs typeface="+mn-cs"/>
            </a:endParaRPr>
          </a:p>
        </p:txBody>
      </p:sp>
      <p:pic>
        <p:nvPicPr>
          <p:cNvPr id="6" name="Bild 2" descr="HZI_Logo_NEG_2017.pdf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451" y="5865814"/>
            <a:ext cx="5289549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9667" y="5301208"/>
            <a:ext cx="10363200" cy="72018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de-DE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19668" y="5932488"/>
            <a:ext cx="6913033" cy="4318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44408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58AE8126-63FE-F24B-80F9-5436A929BA33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418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997FED07-7AFC-4646-8F70-B2D0045269B9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888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773239"/>
            <a:ext cx="4800600" cy="36718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613400" y="1773239"/>
            <a:ext cx="4802717" cy="36718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EBB9A776-68BA-8147-B310-D6FF050BF5A2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82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E1073E3E-71F0-2B41-A6F1-33FAE7B94670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843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E46D99BB-0262-BF45-A910-80702CBB4AD9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274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N</a:t>
            </a:r>
            <a:r>
              <a:rPr lang="de-DE" sz="800" dirty="0"/>
              <a:t> Epidemiology </a:t>
            </a:r>
            <a:r>
              <a:rPr lang="de-DE" sz="800" dirty="0" err="1"/>
              <a:t>for</a:t>
            </a:r>
            <a:r>
              <a:rPr lang="de-DE" sz="800" dirty="0"/>
              <a:t> Public </a:t>
            </a:r>
            <a:r>
              <a:rPr lang="de-DE" sz="800" dirty="0" err="1"/>
              <a:t>Health</a:t>
            </a:r>
            <a:r>
              <a:rPr lang="de-DE" sz="800" dirty="0"/>
              <a:t> Solutions</a:t>
            </a:r>
            <a:endParaRPr lang="de-DE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95519FE1-1C3B-7645-AE93-85F572D3F402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581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F1792453-4956-E941-AAFF-0877EF4ECEE9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176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2DF6EE42-5DA6-514F-8C19-7A77B967E3DD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303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468EF1F8-D029-EE4B-8619-A96201B4732B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00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965018" y="414339"/>
            <a:ext cx="2451100" cy="5030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1" y="414339"/>
            <a:ext cx="7152217" cy="50307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6AA94C2-D0BE-3249-8957-C1A251C572F6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0575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414338"/>
            <a:ext cx="8174567" cy="9271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609600" y="1773239"/>
            <a:ext cx="9806517" cy="3671887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Seite </a:t>
            </a:r>
            <a:fld id="{B72E4D9F-D329-0142-942F-2C7E17E5FEFD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002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ild 5" descr="HZI_Balken_4_3 16.pdf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Bild 7" descr="HZI_Logo_NEG_2017_engl.eps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198" y="6278863"/>
            <a:ext cx="3183097" cy="602081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414338"/>
            <a:ext cx="8174567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73239"/>
            <a:ext cx="9806517" cy="367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50951" y="6453189"/>
            <a:ext cx="3860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700">
                <a:solidFill>
                  <a:srgbClr val="005AA0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en-US"/>
              <a:t>N Epidemiology for Public Health Solutions</a:t>
            </a: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4418" y="6453189"/>
            <a:ext cx="670983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700">
                <a:solidFill>
                  <a:srgbClr val="005AA0"/>
                </a:solidFill>
                <a:cs typeface="+mn-cs"/>
              </a:defRPr>
            </a:lvl1pPr>
          </a:lstStyle>
          <a:p>
            <a:pPr>
              <a:defRPr/>
            </a:pPr>
            <a:r>
              <a:rPr lang="de-DE"/>
              <a:t>Seite </a:t>
            </a:r>
            <a:fld id="{A69B8929-82BB-0F49-A7F3-9D0CB7A4DCA4}" type="slidenum">
              <a:rPr lang="de-DE"/>
              <a:pPr>
                <a:defRPr/>
              </a:pPr>
              <a:t>‹Nr.›</a:t>
            </a:fld>
            <a:r>
              <a:rPr lang="de-DE"/>
              <a:t> |</a:t>
            </a:r>
          </a:p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73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+mj-lt"/>
          <a:ea typeface="+mj-ea"/>
          <a:cs typeface="Geneva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Geneva" charset="0"/>
          <a:cs typeface="Genev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Geneva" charset="0"/>
          <a:cs typeface="Genev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Geneva" charset="0"/>
          <a:cs typeface="Genev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Geneva" charset="0"/>
          <a:cs typeface="Genev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Genev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Genev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Genev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  <a:ea typeface="Geneva" charset="0"/>
        </a:defRPr>
      </a:lvl9pPr>
    </p:titleStyle>
    <p:bodyStyle>
      <a:lvl1pPr marL="342900" indent="-3429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Geneva" charset="0"/>
        </a:defRPr>
      </a:lvl1pPr>
      <a:lvl2pPr marL="274638" indent="-27305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lr>
          <a:schemeClr val="bg2"/>
        </a:buClr>
        <a:buSzPct val="9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2pPr>
      <a:lvl3pPr marL="276225" indent="638175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3pPr>
      <a:lvl4pPr marL="525463" indent="-24765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lr>
          <a:schemeClr val="bg2"/>
        </a:buClr>
        <a:buSzPct val="90000"/>
        <a:buFont typeface="Wingdings" charset="0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527050" indent="130175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5pPr>
      <a:lvl6pPr marL="98425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6pPr>
      <a:lvl7pPr marL="144145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7pPr>
      <a:lvl8pPr marL="189865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8pPr>
      <a:lvl9pPr marL="235585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posit.co/download/rstudio-desktop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avareshugo.github.io/data_carpentry_extras/base-r_tidyverse_equivalents/base-r_tidyverse_equivalents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-96688" y="2799290"/>
            <a:ext cx="11216324" cy="1325795"/>
          </a:xfrm>
        </p:spPr>
        <p:txBody>
          <a:bodyPr>
            <a:noAutofit/>
          </a:bodyPr>
          <a:lstStyle/>
          <a:p>
            <a:pPr algn="ctr"/>
            <a:r>
              <a:rPr lang="de-DE" sz="2400" dirty="0" err="1">
                <a:solidFill>
                  <a:schemeClr val="tx1"/>
                </a:solidFill>
              </a:rPr>
              <a:t>Introduction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to</a:t>
            </a:r>
            <a:r>
              <a:rPr lang="de-DE" sz="2400" dirty="0">
                <a:solidFill>
                  <a:schemeClr val="tx1"/>
                </a:solidFill>
              </a:rPr>
              <a:t> R </a:t>
            </a:r>
            <a:r>
              <a:rPr lang="de-DE" sz="2400" dirty="0" err="1">
                <a:solidFill>
                  <a:schemeClr val="tx1"/>
                </a:solidFill>
              </a:rPr>
              <a:t>and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  <a:r>
              <a:rPr lang="de-DE" sz="2400" dirty="0" err="1">
                <a:solidFill>
                  <a:schemeClr val="tx1"/>
                </a:solidFill>
              </a:rPr>
              <a:t>Git</a:t>
            </a:r>
            <a:br>
              <a:rPr lang="de-DE" dirty="0">
                <a:solidFill>
                  <a:schemeClr val="tx1"/>
                </a:solidFill>
              </a:rPr>
            </a:b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533336" y="5830416"/>
            <a:ext cx="655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</a:rPr>
              <a:t>Presenter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</a:rPr>
              <a:t>: Jessica Krepel</a:t>
            </a:r>
          </a:p>
        </p:txBody>
      </p:sp>
    </p:spTree>
    <p:extLst>
      <p:ext uri="{BB962C8B-B14F-4D97-AF65-F5344CB8AC3E}">
        <p14:creationId xmlns:p14="http://schemas.microsoft.com/office/powerpoint/2010/main" val="326393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Install</a:t>
            </a:r>
            <a:r>
              <a:rPr lang="de-DE" dirty="0"/>
              <a:t> R </a:t>
            </a:r>
            <a:r>
              <a:rPr lang="de-DE" dirty="0" err="1"/>
              <a:t>and</a:t>
            </a:r>
            <a:r>
              <a:rPr lang="de-DE" dirty="0"/>
              <a:t> R Studio</a:t>
            </a:r>
            <a:endParaRPr lang="de-DE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1671" y="1455007"/>
            <a:ext cx="8584314" cy="611537"/>
          </a:xfrm>
        </p:spPr>
        <p:txBody>
          <a:bodyPr/>
          <a:lstStyle/>
          <a:p>
            <a:pPr marL="0" indent="0"/>
            <a:r>
              <a:rPr lang="de-DE" dirty="0"/>
              <a:t>Download </a:t>
            </a:r>
            <a:r>
              <a:rPr lang="de-DE" dirty="0" err="1"/>
              <a:t>from</a:t>
            </a:r>
            <a:r>
              <a:rPr lang="de-DE" dirty="0"/>
              <a:t>: </a:t>
            </a:r>
            <a:r>
              <a:rPr lang="de-DE" dirty="0">
                <a:hlinkClick r:id="rId2"/>
              </a:rPr>
              <a:t>https://posit.co/download/rstudio-desktop/</a:t>
            </a:r>
            <a:r>
              <a:rPr lang="de-DE" dirty="0"/>
              <a:t> 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9" y="1993500"/>
            <a:ext cx="8066538" cy="431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55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Information </a:t>
            </a:r>
            <a:r>
              <a:rPr lang="de-DE" dirty="0" err="1"/>
              <a:t>searching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1670" y="1455007"/>
            <a:ext cx="10260713" cy="32632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/>
              <a:t>?</a:t>
            </a:r>
            <a:r>
              <a:rPr lang="de-DE" dirty="0" err="1"/>
              <a:t>help</a:t>
            </a:r>
            <a:r>
              <a:rPr lang="de-DE" dirty="0"/>
              <a:t>:        </a:t>
            </a:r>
          </a:p>
          <a:p>
            <a:pPr marL="593725" lvl="3" indent="-342900">
              <a:buFont typeface="Wingdings" panose="05000000000000000000" pitchFamily="2" charset="2"/>
              <a:buChar char="Ø"/>
            </a:pPr>
            <a:r>
              <a:rPr lang="de-DE" dirty="0"/>
              <a:t>Type ?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,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, </a:t>
            </a:r>
            <a:r>
              <a:rPr lang="de-DE" dirty="0" err="1"/>
              <a:t>into</a:t>
            </a:r>
            <a:r>
              <a:rPr lang="de-DE" dirty="0"/>
              <a:t> R</a:t>
            </a:r>
          </a:p>
          <a:p>
            <a:pPr marL="344487" lvl="2" indent="-342900">
              <a:buFont typeface="Wingdings" panose="05000000000000000000" pitchFamily="2" charset="2"/>
              <a:buChar char="Ø"/>
            </a:pPr>
            <a:r>
              <a:rPr lang="de-DE" dirty="0"/>
              <a:t>Google:</a:t>
            </a:r>
          </a:p>
          <a:p>
            <a:pPr marL="593725" lvl="3">
              <a:buFont typeface="Wingdings" panose="05000000000000000000" pitchFamily="2" charset="2"/>
              <a:buChar char="Ø"/>
            </a:pPr>
            <a:r>
              <a:rPr lang="de-DE" dirty="0"/>
              <a:t>In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cases</a:t>
            </a:r>
            <a:r>
              <a:rPr lang="de-DE" dirty="0"/>
              <a:t>, </a:t>
            </a:r>
            <a:r>
              <a:rPr lang="de-DE" dirty="0" err="1"/>
              <a:t>someone</a:t>
            </a:r>
            <a:r>
              <a:rPr lang="de-DE" dirty="0"/>
              <a:t> </a:t>
            </a:r>
            <a:r>
              <a:rPr lang="de-DE" dirty="0" err="1"/>
              <a:t>else</a:t>
            </a:r>
            <a:r>
              <a:rPr lang="de-DE" dirty="0"/>
              <a:t> </a:t>
            </a:r>
            <a:r>
              <a:rPr lang="de-DE" dirty="0" err="1"/>
              <a:t>had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,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asked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in </a:t>
            </a:r>
            <a:r>
              <a:rPr lang="de-DE" dirty="0" err="1"/>
              <a:t>respective</a:t>
            </a:r>
            <a:r>
              <a:rPr lang="de-DE" dirty="0"/>
              <a:t> </a:t>
            </a:r>
            <a:r>
              <a:rPr lang="de-DE" dirty="0" err="1"/>
              <a:t>platforms</a:t>
            </a:r>
            <a:r>
              <a:rPr lang="de-DE" dirty="0"/>
              <a:t> (e.g. Stack Overflow)</a:t>
            </a:r>
          </a:p>
          <a:p>
            <a:pPr marL="593725" lvl="3">
              <a:buFont typeface="Wingdings" panose="05000000000000000000" pitchFamily="2" charset="2"/>
              <a:buChar char="Ø"/>
            </a:pPr>
            <a:r>
              <a:rPr lang="de-DE" dirty="0"/>
              <a:t>Other informative </a:t>
            </a:r>
            <a:r>
              <a:rPr lang="de-DE" dirty="0" err="1"/>
              <a:t>internet</a:t>
            </a:r>
            <a:r>
              <a:rPr lang="de-DE" dirty="0"/>
              <a:t> </a:t>
            </a:r>
            <a:r>
              <a:rPr lang="de-DE" dirty="0" err="1"/>
              <a:t>pages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content</a:t>
            </a:r>
            <a:r>
              <a:rPr lang="de-DE" dirty="0"/>
              <a:t> on R </a:t>
            </a:r>
            <a:r>
              <a:rPr lang="de-DE" dirty="0" err="1"/>
              <a:t>programming</a:t>
            </a:r>
            <a:endParaRPr lang="de-DE" dirty="0"/>
          </a:p>
          <a:p>
            <a:pPr marL="411162">
              <a:buFont typeface="Wingdings" panose="05000000000000000000" pitchFamily="2" charset="2"/>
              <a:buChar char="Ø"/>
            </a:pPr>
            <a:r>
              <a:rPr lang="de-DE" dirty="0" err="1"/>
              <a:t>Ask</a:t>
            </a:r>
            <a:r>
              <a:rPr lang="de-DE" dirty="0"/>
              <a:t> an AI </a:t>
            </a:r>
            <a:r>
              <a:rPr lang="de-DE" dirty="0" err="1"/>
              <a:t>tool</a:t>
            </a:r>
            <a:r>
              <a:rPr lang="de-DE" dirty="0"/>
              <a:t> like </a:t>
            </a:r>
            <a:r>
              <a:rPr lang="de-DE" dirty="0" err="1"/>
              <a:t>chatGPT</a:t>
            </a:r>
            <a:endParaRPr lang="de-DE" dirty="0"/>
          </a:p>
          <a:p>
            <a:pPr marL="411162">
              <a:buFont typeface="Wingdings" panose="05000000000000000000" pitchFamily="2" charset="2"/>
              <a:buChar char="Ø"/>
            </a:pP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AI </a:t>
            </a:r>
            <a:r>
              <a:rPr lang="de-DE" dirty="0" err="1"/>
              <a:t>tools</a:t>
            </a:r>
            <a:r>
              <a:rPr lang="de-DE" dirty="0"/>
              <a:t>, </a:t>
            </a:r>
            <a:r>
              <a:rPr lang="de-DE" dirty="0" err="1"/>
              <a:t>always</a:t>
            </a:r>
            <a:r>
              <a:rPr lang="de-DE" dirty="0"/>
              <a:t> double check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correctness</a:t>
            </a:r>
            <a:r>
              <a:rPr lang="de-DE" dirty="0"/>
              <a:t> (</a:t>
            </a:r>
            <a:r>
              <a:rPr lang="de-DE" dirty="0" err="1"/>
              <a:t>look</a:t>
            </a:r>
            <a:r>
              <a:rPr lang="de-DE" dirty="0"/>
              <a:t> at </a:t>
            </a:r>
            <a:r>
              <a:rPr lang="de-DE" dirty="0" err="1"/>
              <a:t>result</a:t>
            </a:r>
            <a:r>
              <a:rPr lang="de-DE" dirty="0"/>
              <a:t>)</a:t>
            </a:r>
          </a:p>
          <a:p>
            <a:pPr marL="411162">
              <a:buFont typeface="Wingdings" panose="05000000000000000000" pitchFamily="2" charset="2"/>
              <a:buChar char="Ø"/>
            </a:pPr>
            <a:r>
              <a:rPr lang="de-DE" dirty="0"/>
              <a:t>Open-</a:t>
            </a:r>
            <a:r>
              <a:rPr lang="de-DE" dirty="0" err="1"/>
              <a:t>source</a:t>
            </a:r>
            <a:r>
              <a:rPr lang="de-DE" dirty="0"/>
              <a:t> </a:t>
            </a:r>
            <a:r>
              <a:rPr lang="de-DE" dirty="0" err="1"/>
              <a:t>books</a:t>
            </a:r>
            <a:r>
              <a:rPr lang="de-DE" dirty="0"/>
              <a:t>:</a:t>
            </a:r>
          </a:p>
          <a:p>
            <a:pPr marL="593725" lvl="3">
              <a:buFont typeface="Wingdings" panose="05000000000000000000" pitchFamily="2" charset="2"/>
              <a:buChar char="Ø"/>
            </a:pPr>
            <a:r>
              <a:rPr lang="de-DE" dirty="0"/>
              <a:t>R </a:t>
            </a:r>
            <a:r>
              <a:rPr lang="de-DE" dirty="0" err="1"/>
              <a:t>for</a:t>
            </a:r>
            <a:r>
              <a:rPr lang="de-DE" dirty="0"/>
              <a:t> Data Science:                                  https://r4ds.had.co.nz/</a:t>
            </a:r>
          </a:p>
          <a:p>
            <a:pPr marL="593725" lvl="3">
              <a:buFont typeface="Wingdings" panose="05000000000000000000" pitchFamily="2" charset="2"/>
              <a:buChar char="Ø"/>
            </a:pPr>
            <a:r>
              <a:rPr lang="de-DE" dirty="0"/>
              <a:t>R </a:t>
            </a:r>
            <a:r>
              <a:rPr lang="de-DE" dirty="0" err="1"/>
              <a:t>for</a:t>
            </a:r>
            <a:r>
              <a:rPr lang="de-DE" dirty="0"/>
              <a:t> Data Science, </a:t>
            </a:r>
            <a:r>
              <a:rPr lang="de-DE" dirty="0" err="1"/>
              <a:t>second</a:t>
            </a:r>
            <a:r>
              <a:rPr lang="de-DE" dirty="0"/>
              <a:t> </a:t>
            </a:r>
            <a:r>
              <a:rPr lang="de-DE" dirty="0" err="1"/>
              <a:t>edition</a:t>
            </a:r>
            <a:r>
              <a:rPr lang="de-DE" dirty="0"/>
              <a:t>:         https://r4ds.hadley.nz/</a:t>
            </a:r>
          </a:p>
        </p:txBody>
      </p:sp>
    </p:spTree>
    <p:extLst>
      <p:ext uri="{BB962C8B-B14F-4D97-AF65-F5344CB8AC3E}">
        <p14:creationId xmlns:p14="http://schemas.microsoft.com/office/powerpoint/2010/main" val="235693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wrangling</a:t>
            </a:r>
            <a:r>
              <a:rPr lang="de-DE" dirty="0"/>
              <a:t>: </a:t>
            </a:r>
            <a:r>
              <a:rPr lang="de-DE" sz="2000" dirty="0"/>
              <a:t>Base R versus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Tidyverse</a:t>
            </a:r>
            <a:r>
              <a:rPr lang="de-DE" sz="2000" dirty="0"/>
              <a:t> Package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1671" y="1455007"/>
            <a:ext cx="8584314" cy="611537"/>
          </a:xfrm>
        </p:spPr>
        <p:txBody>
          <a:bodyPr/>
          <a:lstStyle/>
          <a:p>
            <a:pPr marL="0" indent="0"/>
            <a:endParaRPr lang="de-DE" b="1" dirty="0"/>
          </a:p>
        </p:txBody>
      </p:sp>
      <p:pic>
        <p:nvPicPr>
          <p:cNvPr id="4" name="Grafik 3"/>
          <p:cNvPicPr/>
          <p:nvPr/>
        </p:nvPicPr>
        <p:blipFill rotWithShape="1">
          <a:blip r:embed="rId2"/>
          <a:srcRect t="9582" r="3466" b="26907"/>
          <a:stretch/>
        </p:blipFill>
        <p:spPr>
          <a:xfrm>
            <a:off x="327576" y="1158240"/>
            <a:ext cx="10700088" cy="4559808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431671" y="5533382"/>
            <a:ext cx="80874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More: </a:t>
            </a:r>
            <a:r>
              <a:rPr lang="de-DE" dirty="0">
                <a:hlinkClick r:id="rId3"/>
              </a:rPr>
              <a:t>Syntax </a:t>
            </a:r>
            <a:r>
              <a:rPr lang="de-DE" dirty="0" err="1">
                <a:hlinkClick r:id="rId3"/>
              </a:rPr>
              <a:t>equivalents</a:t>
            </a:r>
            <a:r>
              <a:rPr lang="de-DE" dirty="0">
                <a:hlinkClick r:id="rId3"/>
              </a:rPr>
              <a:t>: </a:t>
            </a:r>
            <a:r>
              <a:rPr lang="de-DE" dirty="0" err="1">
                <a:hlinkClick r:id="rId3"/>
              </a:rPr>
              <a:t>base</a:t>
            </a:r>
            <a:r>
              <a:rPr lang="de-DE" dirty="0">
                <a:hlinkClick r:id="rId3"/>
              </a:rPr>
              <a:t> R </a:t>
            </a:r>
            <a:r>
              <a:rPr lang="de-DE" dirty="0" err="1">
                <a:hlinkClick r:id="rId3"/>
              </a:rPr>
              <a:t>vs</a:t>
            </a:r>
            <a:r>
              <a:rPr lang="de-DE" dirty="0">
                <a:hlinkClick r:id="rId3"/>
              </a:rPr>
              <a:t> </a:t>
            </a:r>
            <a:r>
              <a:rPr lang="de-DE" dirty="0" err="1">
                <a:hlinkClick r:id="rId3"/>
              </a:rPr>
              <a:t>Tidyverse</a:t>
            </a:r>
            <a:r>
              <a:rPr lang="de-DE" dirty="0"/>
              <a:t> </a:t>
            </a:r>
          </a:p>
          <a:p>
            <a:r>
              <a:rPr lang="de-DE" sz="1200" dirty="0"/>
              <a:t>https://tavareshugo.github.io/data_carpentry_extras/base-r_tidyverse_equivalents/base-r_tidyverse_equivalents.html</a:t>
            </a:r>
          </a:p>
        </p:txBody>
      </p:sp>
    </p:spTree>
    <p:extLst>
      <p:ext uri="{BB962C8B-B14F-4D97-AF65-F5344CB8AC3E}">
        <p14:creationId xmlns:p14="http://schemas.microsoft.com/office/powerpoint/2010/main" val="209313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Rmd</a:t>
            </a:r>
            <a:r>
              <a:rPr lang="de-DE" dirty="0"/>
              <a:t> </a:t>
            </a:r>
            <a:r>
              <a:rPr lang="de-DE" dirty="0" err="1"/>
              <a:t>scripts</a:t>
            </a:r>
            <a:endParaRPr lang="de-DE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1670" y="1455007"/>
            <a:ext cx="10260713" cy="32632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e-DE" dirty="0" err="1"/>
              <a:t>Generate</a:t>
            </a:r>
            <a:endParaRPr lang="de-DE" dirty="0"/>
          </a:p>
          <a:p>
            <a:pPr marL="593725" lvl="3" indent="-342900">
              <a:buFont typeface="Wingdings" panose="05000000000000000000" pitchFamily="2" charset="2"/>
              <a:buChar char="Ø"/>
            </a:pPr>
            <a:r>
              <a:rPr lang="de-DE" dirty="0"/>
              <a:t>Word </a:t>
            </a:r>
            <a:r>
              <a:rPr lang="de-DE" dirty="0" err="1"/>
              <a:t>documents</a:t>
            </a:r>
            <a:endParaRPr lang="de-DE" dirty="0"/>
          </a:p>
          <a:p>
            <a:pPr marL="593725" lvl="3" indent="-342900">
              <a:buFont typeface="Wingdings" panose="05000000000000000000" pitchFamily="2" charset="2"/>
              <a:buChar char="Ø"/>
            </a:pPr>
            <a:r>
              <a:rPr lang="de-DE" dirty="0"/>
              <a:t>PDF </a:t>
            </a:r>
            <a:r>
              <a:rPr lang="de-DE" dirty="0" err="1"/>
              <a:t>documents</a:t>
            </a:r>
            <a:endParaRPr lang="de-DE" dirty="0"/>
          </a:p>
          <a:p>
            <a:pPr marL="593725" lvl="3" indent="-342900">
              <a:buFont typeface="Wingdings" panose="05000000000000000000" pitchFamily="2" charset="2"/>
              <a:buChar char="Ø"/>
            </a:pPr>
            <a:r>
              <a:rPr lang="de-DE" dirty="0"/>
              <a:t>HTML </a:t>
            </a:r>
            <a:r>
              <a:rPr lang="de-DE" dirty="0" err="1"/>
              <a:t>documents</a:t>
            </a:r>
            <a:endParaRPr lang="de-DE" dirty="0"/>
          </a:p>
          <a:p>
            <a:pPr marL="593725" lvl="3" indent="-342900">
              <a:buFont typeface="Wingdings" panose="05000000000000000000" pitchFamily="2" charset="2"/>
              <a:buChar char="Ø"/>
            </a:pPr>
            <a:r>
              <a:rPr lang="de-DE" dirty="0" err="1"/>
              <a:t>Presentations</a:t>
            </a:r>
            <a:r>
              <a:rPr lang="de-DE" dirty="0"/>
              <a:t> (PDF, HTML, PowerPoint):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graphics</a:t>
            </a:r>
            <a:r>
              <a:rPr lang="de-DE" dirty="0"/>
              <a:t> </a:t>
            </a:r>
            <a:r>
              <a:rPr lang="de-DE" dirty="0" err="1"/>
              <a:t>directly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  <a:p>
            <a:pPr marL="593725" lvl="3" indent="-342900">
              <a:buFont typeface="Wingdings" panose="05000000000000000000" pitchFamily="2" charset="2"/>
              <a:buChar char="Ø"/>
            </a:pPr>
            <a:r>
              <a:rPr lang="de-DE" dirty="0"/>
              <a:t>Dashboards: </a:t>
            </a:r>
            <a:r>
              <a:rPr lang="de-DE" dirty="0" err="1"/>
              <a:t>flexdashboard</a:t>
            </a:r>
            <a:endParaRPr lang="de-DE" dirty="0"/>
          </a:p>
        </p:txBody>
      </p:sp>
      <p:sp>
        <p:nvSpPr>
          <p:cNvPr id="4" name="Textfeld 3"/>
          <p:cNvSpPr txBox="1"/>
          <p:nvPr/>
        </p:nvSpPr>
        <p:spPr>
          <a:xfrm>
            <a:off x="5419345" y="4039711"/>
            <a:ext cx="47183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 </a:t>
            </a:r>
            <a:r>
              <a:rPr lang="de-DE" dirty="0" err="1"/>
              <a:t>Markdown</a:t>
            </a:r>
            <a:r>
              <a:rPr lang="de-DE" dirty="0"/>
              <a:t> </a:t>
            </a:r>
            <a:r>
              <a:rPr lang="de-DE" dirty="0" err="1"/>
              <a:t>internet</a:t>
            </a:r>
            <a:r>
              <a:rPr lang="de-DE" dirty="0"/>
              <a:t> </a:t>
            </a:r>
            <a:r>
              <a:rPr lang="de-DE" dirty="0" err="1"/>
              <a:t>page</a:t>
            </a:r>
            <a:r>
              <a:rPr lang="de-DE" dirty="0"/>
              <a:t>:</a:t>
            </a:r>
          </a:p>
          <a:p>
            <a:r>
              <a:rPr lang="de-DE" dirty="0"/>
              <a:t>https://rmarkdown.rstudio.com</a:t>
            </a:r>
          </a:p>
        </p:txBody>
      </p:sp>
    </p:spTree>
    <p:extLst>
      <p:ext uri="{BB962C8B-B14F-4D97-AF65-F5344CB8AC3E}">
        <p14:creationId xmlns:p14="http://schemas.microsoft.com/office/powerpoint/2010/main" val="3180349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Programming</a:t>
            </a:r>
            <a:r>
              <a:rPr lang="de-DE" dirty="0"/>
              <a:t> </a:t>
            </a:r>
            <a:r>
              <a:rPr lang="de-DE" dirty="0" err="1"/>
              <a:t>rules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1670" y="1455007"/>
            <a:ext cx="9806517" cy="4128571"/>
          </a:xfrm>
        </p:spPr>
        <p:txBody>
          <a:bodyPr/>
          <a:lstStyle/>
          <a:p>
            <a:pPr marL="0" indent="0"/>
            <a:r>
              <a:rPr lang="de-DE" b="1" dirty="0" err="1"/>
              <a:t>Why</a:t>
            </a:r>
            <a:r>
              <a:rPr lang="de-DE" b="1" dirty="0"/>
              <a:t> </a:t>
            </a:r>
            <a:r>
              <a:rPr lang="de-DE" b="1" dirty="0" err="1"/>
              <a:t>it‘s</a:t>
            </a:r>
            <a:r>
              <a:rPr lang="de-DE" b="1" dirty="0"/>
              <a:t> </a:t>
            </a:r>
            <a:r>
              <a:rPr lang="de-DE" b="1" dirty="0" err="1"/>
              <a:t>important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reduce</a:t>
            </a:r>
            <a:r>
              <a:rPr lang="de-DE" b="1" dirty="0"/>
              <a:t> </a:t>
            </a:r>
            <a:r>
              <a:rPr lang="de-DE" b="1" dirty="0" err="1"/>
              <a:t>duplication</a:t>
            </a:r>
            <a:endParaRPr lang="de-DE" b="1" dirty="0"/>
          </a:p>
          <a:p>
            <a:pPr lvl="1">
              <a:buFont typeface="+mj-lt"/>
              <a:buAutoNum type="arabicPeriod"/>
            </a:pPr>
            <a:r>
              <a:rPr lang="en-US" dirty="0"/>
              <a:t>It’s easier to see the intent of your code, because your eyes are drawn to what’s different, not what stays the same.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It’s easier to respond to changes in requirements. As your needs change, you only need to make changes in one place, rather than remembering to change every place that you copied-and-pasted the code.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You’re likely to have fewer bugs because each line of code is used in more places.</a:t>
            </a:r>
          </a:p>
          <a:p>
            <a:pPr marL="0" indent="0"/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3163706876"/>
      </p:ext>
    </p:extLst>
  </p:cSld>
  <p:clrMapOvr>
    <a:masterClrMapping/>
  </p:clrMapOvr>
</p:sld>
</file>

<file path=ppt/theme/theme1.xml><?xml version="1.0" encoding="utf-8"?>
<a:theme xmlns:a="http://schemas.openxmlformats.org/drawingml/2006/main" name="HZI_PP_4zu3_engl">
  <a:themeElements>
    <a:clrScheme name="Farbskala HZI 1">
      <a:dk1>
        <a:srgbClr val="000000"/>
      </a:dk1>
      <a:lt1>
        <a:srgbClr val="FFFFFF"/>
      </a:lt1>
      <a:dk2>
        <a:srgbClr val="0A2D6E"/>
      </a:dk2>
      <a:lt2>
        <a:srgbClr val="005AA0"/>
      </a:lt2>
      <a:accent1>
        <a:srgbClr val="515151"/>
      </a:accent1>
      <a:accent2>
        <a:srgbClr val="808080"/>
      </a:accent2>
      <a:accent3>
        <a:srgbClr val="C0C1BF"/>
      </a:accent3>
      <a:accent4>
        <a:srgbClr val="3379B0"/>
      </a:accent4>
      <a:accent5>
        <a:srgbClr val="7FABCD"/>
      </a:accent5>
      <a:accent6>
        <a:srgbClr val="D23264"/>
      </a:accent6>
      <a:hlink>
        <a:srgbClr val="D23264"/>
      </a:hlink>
      <a:folHlink>
        <a:srgbClr val="D23264"/>
      </a:folHlink>
    </a:clrScheme>
    <a:fontScheme name="Standarddesign">
      <a:majorFont>
        <a:latin typeface="Arial"/>
        <a:ea typeface="Geneva"/>
        <a:cs typeface=""/>
      </a:majorFont>
      <a:minorFont>
        <a:latin typeface="Arial"/>
        <a:ea typeface="Genev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Genev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Geneva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3E6E"/>
        </a:dk2>
        <a:lt2>
          <a:srgbClr val="00589C"/>
        </a:lt2>
        <a:accent1>
          <a:srgbClr val="515151"/>
        </a:accent1>
        <a:accent2>
          <a:srgbClr val="9C9C9C"/>
        </a:accent2>
        <a:accent3>
          <a:srgbClr val="FFFFFF"/>
        </a:accent3>
        <a:accent4>
          <a:srgbClr val="000000"/>
        </a:accent4>
        <a:accent5>
          <a:srgbClr val="B3B3B3"/>
        </a:accent5>
        <a:accent6>
          <a:srgbClr val="8D8D8D"/>
        </a:accent6>
        <a:hlink>
          <a:srgbClr val="B9B9B9"/>
        </a:hlink>
        <a:folHlink>
          <a:srgbClr val="D42D1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fection-Epidemiology_tok_190510.potx" id="{AEC8336A-6E1A-4F1A-A12A-F3D76BD4570F}" vid="{FA32732C-0AD9-4C25-A040-C3DB07099B9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Breitbild</PresentationFormat>
  <Paragraphs>32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Arial</vt:lpstr>
      <vt:lpstr>Wingdings</vt:lpstr>
      <vt:lpstr>HZI_PP_4zu3_engl</vt:lpstr>
      <vt:lpstr>Introduction to R and Git </vt:lpstr>
      <vt:lpstr>Install R and R Studio</vt:lpstr>
      <vt:lpstr>Information searching and further learning</vt:lpstr>
      <vt:lpstr>Data wrangling: Base R versus the Tidyverse Package</vt:lpstr>
      <vt:lpstr>Rmd scripts</vt:lpstr>
      <vt:lpstr>Programming rules</vt:lpstr>
    </vt:vector>
  </TitlesOfParts>
  <Company>Helmholtz-Zentrum für Infektionsforschung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models for quantitative and qualitative predictors</dc:title>
  <dc:creator>Krepel, Jessica</dc:creator>
  <cp:lastModifiedBy>Krepel, Jessica</cp:lastModifiedBy>
  <cp:revision>46</cp:revision>
  <dcterms:created xsi:type="dcterms:W3CDTF">2024-11-12T12:57:05Z</dcterms:created>
  <dcterms:modified xsi:type="dcterms:W3CDTF">2025-12-01T17:18:18Z</dcterms:modified>
</cp:coreProperties>
</file>